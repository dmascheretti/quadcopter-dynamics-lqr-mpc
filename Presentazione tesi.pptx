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9B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76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kern="0" spc="200" noProof="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PREDITTIVO PER QUADRICOTTERO</a:t>
            </a:r>
            <a:endParaRPr lang="it-IT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Modellazione Eulero-Lagrange al Controllo LPV-MPC</a:t>
            </a:r>
            <a:endParaRPr lang="it-IT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i="1" noProof="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di avanzamento tesi  —  Ingegneria Informatica, Università di Bergamo</a:t>
            </a:r>
            <a:endParaRPr lang="it-IT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Davide Mascheretti</a:t>
            </a:r>
            <a:endParaRPr lang="it-IT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della tesi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481328" cy="2560320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941832" y="1892808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941832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it-IT" sz="17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Modellazione</a:t>
            </a:r>
            <a:endParaRPr lang="it-IT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66928" y="326440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Equazioni del moto (Eulero-Lagrange)</a:t>
            </a:r>
            <a:endParaRPr lang="it-IT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2107692" y="1691640"/>
            <a:ext cx="1481328" cy="2560320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8"/>
          <p:cNvSpPr/>
          <p:nvPr/>
        </p:nvSpPr>
        <p:spPr>
          <a:xfrm>
            <a:off x="2592324" y="1892808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2592324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it-IT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2199132" y="2560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Linearizzazione</a:t>
            </a:r>
            <a:endParaRPr lang="it-IT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2217420" y="326440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hovering, matrice Γ</a:t>
            </a:r>
            <a:endParaRPr lang="it-IT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3758184" y="1691640"/>
            <a:ext cx="1481328" cy="2560320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3"/>
          <p:cNvSpPr/>
          <p:nvPr/>
        </p:nvSpPr>
        <p:spPr>
          <a:xfrm>
            <a:off x="4242816" y="1892808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Text 14"/>
          <p:cNvSpPr/>
          <p:nvPr/>
        </p:nvSpPr>
        <p:spPr>
          <a:xfrm>
            <a:off x="4242816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it-IT" sz="1700" noProof="0" dirty="0"/>
          </a:p>
        </p:txBody>
      </p:sp>
      <p:sp>
        <p:nvSpPr>
          <p:cNvPr id="17" name="Text 15"/>
          <p:cNvSpPr/>
          <p:nvPr/>
        </p:nvSpPr>
        <p:spPr>
          <a:xfrm>
            <a:off x="3849624" y="2560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LQR</a:t>
            </a:r>
            <a:endParaRPr lang="it-IT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3867912" y="326440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 osservazione del limite</a:t>
            </a:r>
            <a:endParaRPr lang="it-IT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5408676" y="1691640"/>
            <a:ext cx="1481328" cy="2560320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Shape 18"/>
          <p:cNvSpPr/>
          <p:nvPr/>
        </p:nvSpPr>
        <p:spPr>
          <a:xfrm>
            <a:off x="5893308" y="1892808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Text 19"/>
          <p:cNvSpPr/>
          <p:nvPr/>
        </p:nvSpPr>
        <p:spPr>
          <a:xfrm>
            <a:off x="589330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it-IT" sz="1700" noProof="0" dirty="0"/>
          </a:p>
        </p:txBody>
      </p:sp>
      <p:sp>
        <p:nvSpPr>
          <p:cNvPr id="22" name="Text 20"/>
          <p:cNvSpPr/>
          <p:nvPr/>
        </p:nvSpPr>
        <p:spPr>
          <a:xfrm>
            <a:off x="5500116" y="2560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NMPC → LPV-MPC</a:t>
            </a:r>
            <a:endParaRPr lang="it-IT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5518404" y="326440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predittivo completo</a:t>
            </a:r>
            <a:endParaRPr lang="it-IT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7059168" y="1691640"/>
            <a:ext cx="1481328" cy="2560320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25" name="Shape 23"/>
          <p:cNvSpPr/>
          <p:nvPr/>
        </p:nvSpPr>
        <p:spPr>
          <a:xfrm>
            <a:off x="7543800" y="1892808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Text 24"/>
          <p:cNvSpPr/>
          <p:nvPr/>
        </p:nvSpPr>
        <p:spPr>
          <a:xfrm>
            <a:off x="754380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it-IT" sz="1700" noProof="0" dirty="0"/>
          </a:p>
        </p:txBody>
      </p:sp>
      <p:sp>
        <p:nvSpPr>
          <p:cNvPr id="27" name="Text 25"/>
          <p:cNvSpPr/>
          <p:nvPr/>
        </p:nvSpPr>
        <p:spPr>
          <a:xfrm>
            <a:off x="7150608" y="2560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Validazione</a:t>
            </a:r>
            <a:endParaRPr lang="it-IT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7168896" y="326440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</a:t>
            </a:r>
            <a:r>
              <a:rPr lang="it-IT" sz="1000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Skydio</a:t>
            </a: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X2 in </a:t>
            </a:r>
            <a:r>
              <a:rPr lang="it-IT" sz="1000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it-IT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1949958" y="289864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962" y="2930652"/>
            <a:ext cx="82296" cy="82296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600450" y="289864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454" y="2930652"/>
            <a:ext cx="82296" cy="82296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250942" y="289864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946" y="2930652"/>
            <a:ext cx="82296" cy="822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901434" y="289864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438" y="2930652"/>
            <a:ext cx="82296" cy="822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MATLAB — MODELLAZIONE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corpo rigido alle equazioni del moto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1239012" y="1719072"/>
            <a:ext cx="402336" cy="40233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123901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it-IT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A_coordinate</a:t>
            </a:r>
            <a:endParaRPr lang="it-IT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9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definisce come descrivere posizione e assetto del drone</a:t>
            </a:r>
            <a:endParaRPr lang="it-IT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2587752" y="15544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8"/>
          <p:cNvSpPr/>
          <p:nvPr/>
        </p:nvSpPr>
        <p:spPr>
          <a:xfrm>
            <a:off x="3369564" y="1719072"/>
            <a:ext cx="402336" cy="40233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336956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it-IT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2679192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B_dinamica</a:t>
            </a:r>
            <a:endParaRPr lang="it-IT" sz="1150" noProof="0" dirty="0"/>
          </a:p>
        </p:txBody>
      </p:sp>
      <p:sp>
        <p:nvSpPr>
          <p:cNvPr id="13" name="Text 11"/>
          <p:cNvSpPr/>
          <p:nvPr/>
        </p:nvSpPr>
        <p:spPr>
          <a:xfrm>
            <a:off x="2679192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9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imposta la struttura generale dell'equazione del moto</a:t>
            </a:r>
            <a:endParaRPr lang="it-IT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4718304" y="15544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3"/>
          <p:cNvSpPr/>
          <p:nvPr/>
        </p:nvSpPr>
        <p:spPr>
          <a:xfrm>
            <a:off x="5500116" y="1719072"/>
            <a:ext cx="402336" cy="40233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Text 14"/>
          <p:cNvSpPr/>
          <p:nvPr/>
        </p:nvSpPr>
        <p:spPr>
          <a:xfrm>
            <a:off x="550011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it-IT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4809744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C_matrici</a:t>
            </a:r>
            <a:endParaRPr lang="it-IT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4809744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9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calcolano simbolicamente inerzia, accoppiamenti e gravità</a:t>
            </a:r>
            <a:endParaRPr lang="it-IT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6848856" y="15544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Shape 18"/>
          <p:cNvSpPr/>
          <p:nvPr/>
        </p:nvSpPr>
        <p:spPr>
          <a:xfrm>
            <a:off x="7630668" y="1719072"/>
            <a:ext cx="402336" cy="40233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Text 19"/>
          <p:cNvSpPr/>
          <p:nvPr/>
        </p:nvSpPr>
        <p:spPr>
          <a:xfrm>
            <a:off x="763066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it-IT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6940296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D_simulazione</a:t>
            </a:r>
            <a:endParaRPr lang="it-IT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6940296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9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traduce tutto in funzioni numeriche pronte all'uso</a:t>
            </a:r>
            <a:endParaRPr lang="it-IT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2432304" y="218998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08" y="2221992"/>
            <a:ext cx="82296" cy="8229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62856" y="218998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2221992"/>
            <a:ext cx="82296" cy="8229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693408" y="218998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2221992"/>
            <a:ext cx="82296" cy="8229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31" name="Text 26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9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M(q)q̈ + C(</a:t>
            </a:r>
            <a:r>
              <a:rPr lang="it-IT" sz="1900" i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q,q</a:t>
            </a:r>
            <a:r>
              <a:rPr lang="it-IT" sz="19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̇)q̇ + G(q) = B(q)Γ</a:t>
            </a:r>
            <a:endParaRPr lang="it-IT" sz="1900" noProof="0" dirty="0"/>
          </a:p>
        </p:txBody>
      </p:sp>
      <p:sp>
        <p:nvSpPr>
          <p:cNvPr id="32" name="Text 27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C7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finale: un'equazione che descrive completamente come il drone si muove sotto l'effetto delle forze dei motori, derivata e verificata simbolicamente passo per passo.</a:t>
            </a:r>
            <a:endParaRPr lang="it-IT" sz="1150" noProof="0" dirty="0"/>
          </a:p>
        </p:txBody>
      </p:sp>
      <p:sp>
        <p:nvSpPr>
          <p:cNvPr id="33" name="Text 28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MATLAB — LINEARIZZAZIONE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modello completo a modello controllabile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E_equilibrio.m</a:t>
            </a:r>
            <a:endParaRPr lang="it-IT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individua il punto di hovering: il drone fermo, con i motori che bilanciano esattamente il peso</a:t>
            </a:r>
            <a:endParaRPr lang="it-IT" sz="13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Attorno a questo punto, le equazioni complesse vengono approssimate in forma lineare</a:t>
            </a:r>
            <a:endParaRPr lang="it-IT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3246120"/>
          </a:xfrm>
          <a:prstGeom prst="roundRect">
            <a:avLst>
              <a:gd name="adj" fmla="val 2254"/>
            </a:avLst>
          </a:prstGeom>
          <a:solidFill>
            <a:srgbClr val="E5F2F1"/>
          </a:solidFill>
          <a:ln w="12700">
            <a:solidFill>
              <a:srgbClr val="DCE4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→ F2 → F3  /  </a:t>
            </a:r>
            <a:r>
              <a:rPr lang="it-IT" sz="15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G_gamma.m</a:t>
            </a:r>
            <a:endParaRPr lang="it-IT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confronta il modello completo con quello semplificato: la differenza resta piccola vicino al punto di equilibrio</a:t>
            </a:r>
            <a:endParaRPr lang="it-IT" sz="13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introduce la matrice Γ, che traduce “quanta spinta totale e quanta rotazione servono” nelle quattro forze motore reali</a:t>
            </a:r>
            <a:endParaRPr lang="it-IT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MATLAB — CONTROLLO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Sintesi LQR e suoi limiti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184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I_test_tuning</a:t>
            </a:r>
            <a:endParaRPr lang="it-IT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0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diversi compromessi di reattività e consumo</a:t>
            </a:r>
            <a:endParaRPr lang="it-IT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791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3429000" y="16184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J_LQR_NL</a:t>
            </a:r>
            <a:endParaRPr lang="it-IT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0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 controllore sul modello realistico, non semplificato</a:t>
            </a:r>
            <a:endParaRPr lang="it-IT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79192" cy="1417320"/>
          </a:xfrm>
          <a:prstGeom prst="roundRect">
            <a:avLst>
              <a:gd name="adj" fmla="val 4516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6217920" y="16184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→ </a:t>
            </a:r>
            <a:r>
              <a:rPr lang="it-IT" sz="12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L_tracking</a:t>
            </a:r>
            <a:endParaRPr lang="it-IT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05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Inseguimento di un target fisso e di percorsi multi-punto</a:t>
            </a:r>
            <a:endParaRPr lang="it-IT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 w="15875">
            <a:solidFill>
              <a:srgbClr val="0B3D5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3273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limite osservato: il punto di svolta verso l'MPC</a:t>
            </a:r>
            <a:endParaRPr lang="it-IT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it-IT" sz="11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controllore funziona bene vicino al punto di equilibrio, ma diverge quando il target richiede manovre più ampie: la linearizzazione locale non è più valida lontano dal punto da cui è stata calcolata. Questa osservazione diretta motiva il passaggio ad architetture predittive (NMPC/LMPC/LPV).</a:t>
            </a:r>
            <a:endParaRPr lang="it-IT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MATLAB — CONTROLLO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LQR: la divergenza osservata</a:t>
            </a:r>
            <a:endParaRPr lang="it-IT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320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Angoli di Eulero: φ e θ oscillano di centinaia di gradi. Posizioni: divergono a migliaia di metri dal target.</a:t>
            </a:r>
            <a:endParaRPr lang="it-IT" sz="1000" noProof="0" dirty="0"/>
          </a:p>
        </p:txBody>
      </p:sp>
      <p:sp>
        <p:nvSpPr>
          <p:cNvPr id="6" name="Text 3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it-IT" sz="900" noProof="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5D13831-2704-FCE8-A2E4-10632D0E9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919" y="1234440"/>
            <a:ext cx="6058161" cy="3455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MATLAB — CONTROLLO PREDITTIVO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NMPC a LPV-MPC (M → S)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1467612" y="1618488"/>
            <a:ext cx="585216" cy="58521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174650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951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NMPC</a:t>
            </a:r>
            <a:endParaRPr lang="it-IT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N, O</a:t>
            </a:r>
            <a:endParaRPr lang="it-IT" sz="1000" noProof="0" dirty="0"/>
          </a:p>
        </p:txBody>
      </p:sp>
      <p:sp>
        <p:nvSpPr>
          <p:cNvPr id="9" name="Text 6"/>
          <p:cNvSpPr/>
          <p:nvPr/>
        </p:nvSpPr>
        <p:spPr>
          <a:xfrm>
            <a:off x="621792" y="2898648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non lineare completo e fedele alla fisica reale. Massima precisione, ma costo computazionale elevato</a:t>
            </a:r>
            <a:endParaRPr lang="it-IT" sz="1000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638044"/>
            <a:ext cx="146304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27832" y="14173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Shape 8"/>
          <p:cNvSpPr/>
          <p:nvPr/>
        </p:nvSpPr>
        <p:spPr>
          <a:xfrm>
            <a:off x="4238244" y="1618488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7465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2951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LMPC</a:t>
            </a:r>
            <a:endParaRPr lang="it-IT" sz="1600" noProof="0" dirty="0"/>
          </a:p>
        </p:txBody>
      </p:sp>
      <p:sp>
        <p:nvSpPr>
          <p:cNvPr id="15" name="Text 10"/>
          <p:cNvSpPr/>
          <p:nvPr/>
        </p:nvSpPr>
        <p:spPr>
          <a:xfrm>
            <a:off x="3319272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Q, R</a:t>
            </a:r>
            <a:endParaRPr lang="it-IT" sz="1000" noProof="0" dirty="0"/>
          </a:p>
        </p:txBody>
      </p:sp>
      <p:sp>
        <p:nvSpPr>
          <p:cNvPr id="16" name="Text 11"/>
          <p:cNvSpPr/>
          <p:nvPr/>
        </p:nvSpPr>
        <p:spPr>
          <a:xfrm>
            <a:off x="3392424" y="2898648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semplificato. Molto più veloce, compatibile con implementazioni in tempo reale.</a:t>
            </a:r>
            <a:endParaRPr lang="it-IT" sz="1000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638044"/>
            <a:ext cx="146304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98464" y="14173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Shape 13"/>
          <p:cNvSpPr/>
          <p:nvPr/>
        </p:nvSpPr>
        <p:spPr>
          <a:xfrm>
            <a:off x="7008876" y="1618488"/>
            <a:ext cx="585216" cy="585216"/>
          </a:xfrm>
          <a:prstGeom prst="ellipse">
            <a:avLst/>
          </a:prstGeom>
          <a:solidFill>
            <a:srgbClr val="082A3F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892" y="1746504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89904" y="22951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LPV-MPC</a:t>
            </a:r>
            <a:endParaRPr lang="it-IT" sz="1600" noProof="0" dirty="0"/>
          </a:p>
        </p:txBody>
      </p:sp>
      <p:sp>
        <p:nvSpPr>
          <p:cNvPr id="22" name="Text 15"/>
          <p:cNvSpPr/>
          <p:nvPr/>
        </p:nvSpPr>
        <p:spPr>
          <a:xfrm>
            <a:off x="6089904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i="1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S_init_sim_LPV</a:t>
            </a:r>
            <a:endParaRPr lang="it-IT" sz="1000" noProof="0" dirty="0"/>
          </a:p>
        </p:txBody>
      </p:sp>
      <p:sp>
        <p:nvSpPr>
          <p:cNvPr id="23" name="Text 16"/>
          <p:cNvSpPr/>
          <p:nvPr/>
        </p:nvSpPr>
        <p:spPr>
          <a:xfrm>
            <a:off x="6163056" y="2898648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il modello interno ad ogni passo in base all'assetto corrente. Cattura le non linearità mantenendo la velocità dell'LMPC.</a:t>
            </a:r>
            <a:endParaRPr lang="it-IT" sz="1000" noProof="0" dirty="0"/>
          </a:p>
        </p:txBody>
      </p:sp>
      <p:sp>
        <p:nvSpPr>
          <p:cNvPr id="24" name="Shape 17"/>
          <p:cNvSpPr/>
          <p:nvPr/>
        </p:nvSpPr>
        <p:spPr>
          <a:xfrm>
            <a:off x="3081528" y="2592324"/>
            <a:ext cx="256032" cy="25603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2651760"/>
            <a:ext cx="128016" cy="13716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852160" y="2592324"/>
            <a:ext cx="256032" cy="25603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651760"/>
            <a:ext cx="128016" cy="13716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F2F1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9" name="Text 20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50" i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NMPC → LMPC → LPV-MPC </a:t>
            </a:r>
            <a:r>
              <a:rPr lang="it-IT" sz="1150" i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come obiettivo </a:t>
            </a:r>
            <a:r>
              <a:rPr lang="it-IT" sz="1150" i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 e fedeltà al sistema reale.</a:t>
            </a:r>
            <a:endParaRPr lang="it-IT" sz="1150" noProof="0" dirty="0"/>
          </a:p>
        </p:txBody>
      </p:sp>
      <p:sp>
        <p:nvSpPr>
          <p:cNvPr id="30" name="Text 21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SIMULINK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Tentativo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Simulink</a:t>
            </a: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 UAV Toolbox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68580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è stato tentato</a:t>
            </a:r>
            <a:endParaRPr lang="it-IT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LPV_Scheduler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MPC_Controller</a:t>
            </a:r>
            <a:endParaRPr lang="it-IT" sz="1250" noProof="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fisico basato sugli script Matlab precedenti (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Drone_Physics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it-IT" sz="1250" noProof="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Tentativo di sostituirlo con il blocco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Quadcopter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dell'UAV Toolbox, per una fisica più standardizzata e verificata</a:t>
            </a:r>
            <a:endParaRPr lang="it-IT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4663440" y="1426464"/>
            <a:ext cx="4069080" cy="3246120"/>
          </a:xfrm>
          <a:prstGeom prst="roundRect">
            <a:avLst>
              <a:gd name="adj" fmla="val 2254"/>
            </a:avLst>
          </a:prstGeom>
          <a:solidFill>
            <a:srgbClr val="F7F9FA"/>
          </a:solidFill>
          <a:ln w="15875">
            <a:solidFill>
              <a:srgbClr val="0B3D5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 6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scelta e la motivazione</a:t>
            </a:r>
            <a:endParaRPr lang="it-IT" sz="1500" noProof="0" dirty="0"/>
          </a:p>
        </p:txBody>
      </p:sp>
      <p:sp>
        <p:nvSpPr>
          <p:cNvPr id="11" name="Text 7"/>
          <p:cNvSpPr/>
          <p:nvPr/>
        </p:nvSpPr>
        <p:spPr>
          <a:xfrm>
            <a:off x="4846320" y="2240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L'integrazione richiedeva di ridefinire l'interfaccia ingressi/uscite del blocco fisico in modo non banale</a:t>
            </a:r>
            <a:endParaRPr lang="it-IT" sz="1250" noProof="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validazione completa avrebbe richiesto la modellazione della parte elettronica (ESC, attuatori, motorizzazione) — complessità fuori dallo scope della tesi</a:t>
            </a:r>
            <a:endParaRPr lang="it-IT" sz="1250" noProof="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Scelta: spostare la validazione su Python +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il Digital Twin </a:t>
            </a:r>
            <a:r>
              <a:rPr lang="it-IT" sz="125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Skydio</a:t>
            </a:r>
            <a:r>
              <a:rPr lang="it-IT" sz="125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X2</a:t>
            </a:r>
            <a:endParaRPr lang="it-IT" sz="1250" noProof="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MATLAB AL PYTHON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Integrazione su Digital Twin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MuJoCo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</a:t>
            </a:r>
            <a:endParaRPr lang="it-IT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050" noProof="0" dirty="0">
                <a:solidFill>
                  <a:srgbClr val="C7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teorico: modellazione, linearizzazione, sintesi LQR/NMPC/LMPC/LPV</a:t>
            </a:r>
            <a:endParaRPr lang="it-I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4160520" y="1947672"/>
            <a:ext cx="411480" cy="411480"/>
          </a:xfrm>
          <a:prstGeom prst="ellipse">
            <a:avLst/>
          </a:prstGeom>
          <a:solidFill>
            <a:srgbClr val="082A3F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034540"/>
            <a:ext cx="228600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1417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0E7C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2763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496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</a:t>
            </a:r>
            <a:r>
              <a:rPr lang="it-IT" sz="15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MuJoCo</a:t>
            </a:r>
            <a:endParaRPr lang="it-IT" sz="1500" noProof="0" dirty="0"/>
          </a:p>
        </p:txBody>
      </p:sp>
      <p:sp>
        <p:nvSpPr>
          <p:cNvPr id="13" name="Text 8"/>
          <p:cNvSpPr/>
          <p:nvPr/>
        </p:nvSpPr>
        <p:spPr>
          <a:xfrm>
            <a:off x="4937760" y="2011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050" noProof="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sul Digital Twin </a:t>
            </a:r>
            <a:r>
              <a:rPr lang="it-IT" sz="1050" noProof="0" dirty="0" err="1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Skydio</a:t>
            </a:r>
            <a:r>
              <a:rPr lang="it-IT" sz="1050" noProof="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X2: stesso impianto teorico, CasADi/IPOPT</a:t>
            </a:r>
            <a:endParaRPr lang="it-IT" sz="1050" noProof="0" dirty="0"/>
          </a:p>
        </p:txBody>
      </p:sp>
      <p:sp>
        <p:nvSpPr>
          <p:cNvPr id="14" name="Shape 9"/>
          <p:cNvSpPr/>
          <p:nvPr/>
        </p:nvSpPr>
        <p:spPr>
          <a:xfrm>
            <a:off x="457200" y="3017520"/>
            <a:ext cx="2679192" cy="1645920"/>
          </a:xfrm>
          <a:prstGeom prst="roundRect">
            <a:avLst>
              <a:gd name="adj" fmla="val 3889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u="sng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821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35478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Schedulatore LPV</a:t>
            </a:r>
            <a:endParaRPr lang="it-IT" sz="1200" noProof="0" dirty="0"/>
          </a:p>
        </p:txBody>
      </p:sp>
      <p:sp>
        <p:nvSpPr>
          <p:cNvPr id="17" name="Text 11"/>
          <p:cNvSpPr/>
          <p:nvPr/>
        </p:nvSpPr>
        <p:spPr>
          <a:xfrm>
            <a:off x="640080" y="3822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it-IT" sz="1000" dirty="0">
                <a:solidFill>
                  <a:srgbClr val="979B9E"/>
                </a:solidFill>
              </a:rPr>
              <a:t>Ricalcola il modello linearizzato ad ogni passo in base all'assetto corrente — continuità diretta con il codice MATLAB.</a:t>
            </a:r>
            <a:endParaRPr lang="it-IT" sz="1000" noProof="0" dirty="0">
              <a:solidFill>
                <a:srgbClr val="979B9E"/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3246120" y="3017520"/>
            <a:ext cx="2679192" cy="1645920"/>
          </a:xfrm>
          <a:prstGeom prst="roundRect">
            <a:avLst>
              <a:gd name="adj" fmla="val 3889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8211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429000" y="35478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it-IT" sz="1200" noProof="0" dirty="0"/>
          </a:p>
        </p:txBody>
      </p:sp>
      <p:sp>
        <p:nvSpPr>
          <p:cNvPr id="21" name="Text 14"/>
          <p:cNvSpPr/>
          <p:nvPr/>
        </p:nvSpPr>
        <p:spPr>
          <a:xfrm>
            <a:off x="3429000" y="3822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97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ottimizzatore usato in MATLAB, con aggiornamento in tempo reale della predizione ad ogni passo.</a:t>
            </a:r>
            <a:endParaRPr lang="it-IT" sz="1000" noProof="0" dirty="0">
              <a:solidFill>
                <a:srgbClr val="979B9E"/>
              </a:solidFill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035040" y="3017520"/>
            <a:ext cx="2679192" cy="1645920"/>
          </a:xfrm>
          <a:prstGeom prst="roundRect">
            <a:avLst>
              <a:gd name="adj" fmla="val 3889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82112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7920" y="35478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interattivo</a:t>
            </a:r>
            <a:endParaRPr lang="it-IT" sz="1200" noProof="0" dirty="0"/>
          </a:p>
        </p:txBody>
      </p:sp>
      <p:sp>
        <p:nvSpPr>
          <p:cNvPr id="25" name="Text 17"/>
          <p:cNvSpPr/>
          <p:nvPr/>
        </p:nvSpPr>
        <p:spPr>
          <a:xfrm>
            <a:off x="6217920" y="3822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inviati in tempo reale via tastiera o joystick, per test e demo dal vivo.</a:t>
            </a:r>
            <a:endParaRPr lang="it-IT" sz="1000" noProof="0" dirty="0"/>
          </a:p>
        </p:txBody>
      </p:sp>
      <p:sp>
        <p:nvSpPr>
          <p:cNvPr id="26" name="Text 18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Validazione sul Digital Twin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E5F2F1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1540764" y="1645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17556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042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3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e tracking</a:t>
            </a:r>
            <a:endParaRPr lang="it-IT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63347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Inseguimento di target singoli e multi-</a:t>
            </a:r>
            <a:r>
              <a:rPr lang="it-IT" sz="10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comportamento stabile</a:t>
            </a:r>
            <a:endParaRPr lang="it-IT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E5F2F1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7"/>
          <p:cNvSpPr/>
          <p:nvPr/>
        </p:nvSpPr>
        <p:spPr>
          <a:xfrm>
            <a:off x="4329684" y="1645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17556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042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3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Robustezza al vento</a:t>
            </a:r>
            <a:endParaRPr lang="it-IT" sz="1300" noProof="0" dirty="0"/>
          </a:p>
        </p:txBody>
      </p:sp>
      <p:sp>
        <p:nvSpPr>
          <p:cNvPr id="13" name="Text 9"/>
          <p:cNvSpPr/>
          <p:nvPr/>
        </p:nvSpPr>
        <p:spPr>
          <a:xfrm>
            <a:off x="3429000" y="263347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Disturbo esterno costante applicato al corpo rigido in </a:t>
            </a:r>
            <a:r>
              <a:rPr lang="it-IT" sz="10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 controllore compensa correttamente</a:t>
            </a:r>
            <a:endParaRPr lang="it-IT" sz="1000" noProof="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E5F2F1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1"/>
          <p:cNvSpPr/>
          <p:nvPr/>
        </p:nvSpPr>
        <p:spPr>
          <a:xfrm>
            <a:off x="7118604" y="1645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17556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3042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r>
              <a:rPr lang="it-IT" sz="13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dati</a:t>
            </a:r>
            <a:endParaRPr lang="it-IT" sz="1300" noProof="0" dirty="0"/>
          </a:p>
        </p:txBody>
      </p:sp>
      <p:sp>
        <p:nvSpPr>
          <p:cNvPr id="18" name="Text 13"/>
          <p:cNvSpPr/>
          <p:nvPr/>
        </p:nvSpPr>
        <p:spPr>
          <a:xfrm>
            <a:off x="6217920" y="263347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Stato, comandi e target salvati ad ogni step per analisi e generazione grafici post-simulazione</a:t>
            </a:r>
            <a:endParaRPr lang="it-IT" sz="1000" noProof="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862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7947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 impianto LPV-MPC, sviluppato e validato in MATLAB, è riprodotto e funzionante su un Digital Twin fisico realistico in </a:t>
            </a:r>
            <a:r>
              <a:rPr lang="it-IT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it-IT" sz="1300" noProof="0" dirty="0"/>
          </a:p>
        </p:txBody>
      </p:sp>
      <p:sp>
        <p:nvSpPr>
          <p:cNvPr id="22" name="Text 16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940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LPV-MPC in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MuJoCo</a:t>
            </a: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traiettoria, posizioni e angoli ( con disturbo )</a:t>
            </a:r>
            <a:endParaRPr lang="it-IT" sz="30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0388"/>
            <a:ext cx="3307080" cy="3307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325880"/>
            <a:ext cx="4754880" cy="16916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063240"/>
            <a:ext cx="4754880" cy="1691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4919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95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Traiettoria 3D</a:t>
            </a:r>
            <a:endParaRPr lang="it-IT" sz="950" noProof="0" dirty="0"/>
          </a:p>
        </p:txBody>
      </p:sp>
      <p:sp>
        <p:nvSpPr>
          <p:cNvPr id="8" name="Text 3"/>
          <p:cNvSpPr/>
          <p:nvPr/>
        </p:nvSpPr>
        <p:spPr>
          <a:xfrm>
            <a:off x="3977640" y="2944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9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Posizioni X/Y/Z vs tempo — il drone insegue i </a:t>
            </a:r>
            <a:r>
              <a:rPr lang="it-IT" sz="900" i="1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r>
              <a:rPr lang="it-IT" sz="9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comandati via UDP</a:t>
            </a:r>
            <a:endParaRPr lang="it-IT" sz="900" noProof="0" dirty="0"/>
          </a:p>
        </p:txBody>
      </p:sp>
      <p:sp>
        <p:nvSpPr>
          <p:cNvPr id="9" name="Text 4"/>
          <p:cNvSpPr/>
          <p:nvPr/>
        </p:nvSpPr>
        <p:spPr>
          <a:xfrm>
            <a:off x="3977640" y="47731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9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Angoli di Eulero — restano entro i limiti ±22° imposti dal controllore</a:t>
            </a:r>
            <a:endParaRPr lang="it-IT" sz="900" noProof="0" dirty="0"/>
          </a:p>
        </p:txBody>
      </p:sp>
      <p:sp>
        <p:nvSpPr>
          <p:cNvPr id="10" name="Text 5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ESTENSIONE RECENTE — LAVORO IN CORSO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controllo puro al rilevamento ostacoli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800" b="1" noProof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</a:t>
            </a:r>
            <a:endParaRPr lang="it-IT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it-IT" sz="13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drone esegue i comandi: insegue un target senza alcuna consapevolezza dell'ambiente circostante. Nessuna informazione sugli ostacoli, nessuna capacità di adattare la traiettoria in autonomia.</a:t>
            </a:r>
            <a:endParaRPr lang="it-IT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0" cy="3108960"/>
          </a:xfrm>
          <a:prstGeom prst="line">
            <a:avLst/>
          </a:prstGeom>
          <a:noFill/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8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</a:t>
            </a:r>
            <a:endParaRPr lang="it-IT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4754880" y="22402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drone percepisce gli ostacoli nell'ambiente tramite un </a:t>
            </a:r>
            <a:r>
              <a:rPr lang="it-IT" sz="13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r>
              <a:rPr lang="it-IT" sz="13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simulato e adatta la propria traiettoria in modo da aggirarli, mantenendo l'obiettivo di raggiungere il target.</a:t>
            </a:r>
            <a:endParaRPr lang="it-IT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 E CONTROLLO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Architettura: dal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</a:t>
            </a: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alla traiettoria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1143000" y="1801368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9202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4963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1250" b="1" noProof="0" dirty="0" err="1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simulato</a:t>
            </a:r>
            <a:endParaRPr lang="it-IT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594360" y="30449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360°, 32 raggi a 100 Hz — rileva ostacoli nell'ambiente circostante</a:t>
            </a:r>
            <a:endParaRPr lang="it-IT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2542032" y="16002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7"/>
          <p:cNvSpPr/>
          <p:nvPr/>
        </p:nvSpPr>
        <p:spPr>
          <a:xfrm>
            <a:off x="3227832" y="1801368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9202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4963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più vicino</a:t>
            </a:r>
            <a:endParaRPr lang="it-IT" sz="1250" noProof="0" dirty="0"/>
          </a:p>
        </p:txBody>
      </p:sp>
      <p:sp>
        <p:nvSpPr>
          <p:cNvPr id="13" name="Text 9"/>
          <p:cNvSpPr/>
          <p:nvPr/>
        </p:nvSpPr>
        <p:spPr>
          <a:xfrm>
            <a:off x="2679192" y="30449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Estratto, filtrato con </a:t>
            </a:r>
            <a:r>
              <a:rPr lang="it-IT" sz="1000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esponenziale (α=0.3) e </a:t>
            </a:r>
            <a:r>
              <a:rPr lang="it-IT" sz="1000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entro 2.5 m</a:t>
            </a:r>
            <a:endParaRPr lang="it-IT" sz="1000" noProof="0" dirty="0"/>
          </a:p>
        </p:txBody>
      </p:sp>
      <p:sp>
        <p:nvSpPr>
          <p:cNvPr id="14" name="Shape 10"/>
          <p:cNvSpPr/>
          <p:nvPr/>
        </p:nvSpPr>
        <p:spPr>
          <a:xfrm>
            <a:off x="4626864" y="16002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1"/>
          <p:cNvSpPr/>
          <p:nvPr/>
        </p:nvSpPr>
        <p:spPr>
          <a:xfrm>
            <a:off x="5312664" y="1801368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9202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24963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MPC</a:t>
            </a:r>
            <a:endParaRPr lang="it-IT" sz="1250" noProof="0" dirty="0"/>
          </a:p>
        </p:txBody>
      </p:sp>
      <p:sp>
        <p:nvSpPr>
          <p:cNvPr id="18" name="Text 13"/>
          <p:cNvSpPr/>
          <p:nvPr/>
        </p:nvSpPr>
        <p:spPr>
          <a:xfrm>
            <a:off x="4764024" y="30449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repulsivo pesato in base alla direzione (non vincolo)</a:t>
            </a:r>
            <a:endParaRPr lang="it-IT" sz="1000" noProof="0" dirty="0"/>
          </a:p>
        </p:txBody>
      </p:sp>
      <p:sp>
        <p:nvSpPr>
          <p:cNvPr id="19" name="Shape 14"/>
          <p:cNvSpPr/>
          <p:nvPr/>
        </p:nvSpPr>
        <p:spPr>
          <a:xfrm>
            <a:off x="6711696" y="16002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Shape 15"/>
          <p:cNvSpPr/>
          <p:nvPr/>
        </p:nvSpPr>
        <p:spPr>
          <a:xfrm>
            <a:off x="7397496" y="1801368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9202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24963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Traiettoria</a:t>
            </a:r>
            <a:endParaRPr lang="it-IT" sz="1250" noProof="0" dirty="0"/>
          </a:p>
        </p:txBody>
      </p:sp>
      <p:sp>
        <p:nvSpPr>
          <p:cNvPr id="23" name="Text 17"/>
          <p:cNvSpPr/>
          <p:nvPr/>
        </p:nvSpPr>
        <p:spPr>
          <a:xfrm>
            <a:off x="6848856" y="30449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it-IT" sz="10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Pianificata su tutto l'orizzonte, con bypass laterale se l'ostacolo blocca la rotta</a:t>
            </a:r>
            <a:endParaRPr lang="it-IT" sz="1000" noProof="0" dirty="0"/>
          </a:p>
        </p:txBody>
      </p:sp>
      <p:sp>
        <p:nvSpPr>
          <p:cNvPr id="24" name="Shape 18"/>
          <p:cNvSpPr/>
          <p:nvPr/>
        </p:nvSpPr>
        <p:spPr>
          <a:xfrm>
            <a:off x="2386584" y="2615184"/>
            <a:ext cx="256032" cy="25603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592" y="2674620"/>
            <a:ext cx="128016" cy="1371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471416" y="2615184"/>
            <a:ext cx="256032" cy="25603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2674620"/>
            <a:ext cx="128016" cy="1371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556248" y="2615184"/>
            <a:ext cx="256032" cy="25603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674620"/>
            <a:ext cx="128016" cy="1371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5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repulsione agisce di più se l'ostacolo è sulla rotta verso il target, meno se è di lato. Se l'ostacolo blocca il percorso diretto, viene calcolato automaticamente un </a:t>
            </a:r>
            <a:r>
              <a:rPr lang="it-IT" sz="1150" i="1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r>
              <a:rPr lang="it-IT" sz="115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laterale che l'MPC usa al posto del target reale.</a:t>
            </a:r>
            <a:endParaRPr lang="it-IT" sz="1150" noProof="0" dirty="0"/>
          </a:p>
        </p:txBody>
      </p:sp>
      <p:sp>
        <p:nvSpPr>
          <p:cNvPr id="31" name="Text 22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 E CONTROLLO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</a:t>
            </a: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simulato in azione —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it-IT" sz="30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MuJoCo</a:t>
            </a:r>
            <a:endParaRPr lang="it-IT" sz="30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1029"/>
          <a:stretch>
            <a:fillRect/>
          </a:stretch>
        </p:blipFill>
        <p:spPr>
          <a:xfrm>
            <a:off x="1322493" y="1207008"/>
            <a:ext cx="6499013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4048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i="1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 verdi = percorso libero  ·  Raggi rossi = ostacolo rilevato  ·  Cilindri rosso e blu = ostacoli fisici  ·  Drone al centro con rotori visibili</a:t>
            </a:r>
            <a:endParaRPr lang="it-IT" sz="1000" noProof="0" dirty="0"/>
          </a:p>
        </p:txBody>
      </p:sp>
      <p:sp>
        <p:nvSpPr>
          <p:cNvPr id="6" name="Text 3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TECNICA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Repulsione nel costo, non vincolo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621792" y="1600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Vincolo rigido</a:t>
            </a:r>
            <a:endParaRPr lang="it-IT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621792" y="205740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Garanzia formale di sicurezza</a:t>
            </a:r>
            <a:endParaRPr lang="it-IT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621792" y="292608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Rischio di </a:t>
            </a:r>
            <a:r>
              <a:rPr lang="it-IT" sz="1100" noProof="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infeasibility</a:t>
            </a:r>
            <a:r>
              <a:rPr lang="it-IT" sz="11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nessun gradiente fino al contatto con il bordo</a:t>
            </a:r>
            <a:endParaRPr lang="it-IT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79192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7"/>
          <p:cNvSpPr/>
          <p:nvPr/>
        </p:nvSpPr>
        <p:spPr>
          <a:xfrm>
            <a:off x="3410712" y="1600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Vincolo soft (</a:t>
            </a:r>
            <a:r>
              <a:rPr lang="it-IT" sz="1400" b="1" noProof="0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</a:t>
            </a:r>
            <a:r>
              <a:rPr lang="it-IT" sz="14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it-IT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410712" y="205740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Mai </a:t>
            </a:r>
            <a:r>
              <a:rPr lang="it-IT" sz="11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</a:t>
            </a:r>
            <a:r>
              <a:rPr lang="it-IT" sz="11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costruzione</a:t>
            </a:r>
            <a:endParaRPr lang="it-IT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3410712" y="292608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Nuova variabile per ogni step; gradiente ancora a “gomito”</a:t>
            </a:r>
            <a:endParaRPr lang="it-IT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79192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 w="19050">
            <a:solidFill>
              <a:srgbClr val="0B3D59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Text 11"/>
          <p:cNvSpPr/>
          <p:nvPr/>
        </p:nvSpPr>
        <p:spPr>
          <a:xfrm>
            <a:off x="6199632" y="1600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Repulsione nel costo</a:t>
            </a:r>
            <a:endParaRPr lang="it-IT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6199632" y="19659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00" b="1" kern="0" spc="15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ADOTTATA</a:t>
            </a:r>
            <a:endParaRPr lang="it-IT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6199632" y="228600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Mai </a:t>
            </a:r>
            <a:r>
              <a:rPr lang="it-IT" sz="11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</a:t>
            </a:r>
            <a:r>
              <a:rPr lang="it-IT" sz="11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gradiente liscio; deviazione anticipata e fluida</a:t>
            </a:r>
            <a:endParaRPr lang="it-IT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6199632" y="2998893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it-IT" sz="11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Non è una garanzia assoluta, ma una tendenza forte</a:t>
            </a:r>
            <a:endParaRPr lang="it-IT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300" i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costo_ostacolo</a:t>
            </a:r>
            <a:r>
              <a:rPr lang="it-IT" sz="13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 × </a:t>
            </a:r>
            <a:r>
              <a:rPr lang="it-IT" sz="1300" i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it-IT" sz="13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− dist² / 2σ² ) </a:t>
            </a:r>
            <a:r>
              <a:rPr lang="it-IT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Wingdings" panose="05000000000000000000" pitchFamily="2" charset="2"/>
              </a:rPr>
              <a:t> gaussiana proporzionale alla distanza dall’ostacolo</a:t>
            </a:r>
            <a:endParaRPr lang="it-IT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kern="0" spc="200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ATTUALE E LAVORO IN CORSO</a:t>
            </a:r>
            <a:endParaRPr lang="it-IT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 punto siamo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5F2F1"/>
          </a:solidFill>
          <a:ln w="12700">
            <a:solidFill>
              <a:srgbClr val="DCE4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funziona</a:t>
            </a:r>
            <a:endParaRPr lang="it-IT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32 raggi, 100 Hz</a:t>
            </a:r>
            <a:endParaRPr lang="it-IT" sz="1200" noProof="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peso della repulsione è modulato dalla direzione: si riduce se l'ostacolo non è sulla rotta verso il target</a:t>
            </a:r>
            <a:endParaRPr lang="it-IT" sz="1200" noProof="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</a:t>
            </a:r>
            <a:r>
              <a:rPr lang="it-IT" sz="1200" noProof="0" dirty="0" err="1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laterale: se l'ostacolo blocca la rotta, l'MPC riceve un target laterale raggiungibile</a:t>
            </a:r>
            <a:endParaRPr lang="it-IT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5875">
            <a:solidFill>
              <a:srgbClr val="0B3D5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aperto</a:t>
            </a:r>
            <a:endParaRPr lang="it-IT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comportamento in prossimità degli ostacoli è ancora discontinuo in alcuni scenari: l'oscillazione non è completamente eliminata</a:t>
            </a:r>
            <a:endParaRPr lang="it-IT" sz="1200" noProof="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bypass laterale risolve i casi più critici ma introduce una discontinuità nel target che può eccitare il solver</a:t>
            </a:r>
            <a:endParaRPr lang="it-IT" sz="1200" noProof="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it-IT" sz="1200" noProof="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fine dei parametri (σ=0.8, W=2000, margine bypass=1.2 m) ancora in corso</a:t>
            </a:r>
            <a:endParaRPr lang="it-IT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5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stabilizzare il bypass e validare il comportamento su scenari con ostacoli multipli e percorsi più complessi</a:t>
            </a:r>
            <a:endParaRPr lang="it-IT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it-IT" sz="34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00" noProof="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Davide Mascheretti  —  Ingegneria Informatica, Università di Bergamo</a:t>
            </a:r>
            <a:endParaRPr lang="it-IT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8458200" y="4892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it-IT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Microsoft Office PowerPoint</Application>
  <PresentationFormat>Presentazione su schermo (16:9)</PresentationFormat>
  <Paragraphs>185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Controllo Predittivo per Quadricottero - Aggiornamento Tesi</dc:title>
  <dc:subject>PptxGenJS Presentation</dc:subject>
  <dc:creator>Davide Mascheretti</dc:creator>
  <cp:lastModifiedBy>DAVIDE MASCHERETTI</cp:lastModifiedBy>
  <cp:revision>4</cp:revision>
  <dcterms:created xsi:type="dcterms:W3CDTF">2026-06-21T19:44:28Z</dcterms:created>
  <dcterms:modified xsi:type="dcterms:W3CDTF">2026-06-21T20:06:42Z</dcterms:modified>
</cp:coreProperties>
</file>